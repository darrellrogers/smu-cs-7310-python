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58" r:id="rId4"/>
    <p:sldId id="259" r:id="rId5"/>
    <p:sldId id="267" r:id="rId6"/>
    <p:sldId id="268" r:id="rId7"/>
    <p:sldId id="269" r:id="rId8"/>
    <p:sldId id="278" r:id="rId9"/>
    <p:sldId id="273" r:id="rId10"/>
    <p:sldId id="277" r:id="rId11"/>
    <p:sldId id="276" r:id="rId12"/>
    <p:sldId id="270" r:id="rId13"/>
    <p:sldId id="274" r:id="rId14"/>
    <p:sldId id="275" r:id="rId15"/>
    <p:sldId id="271" r:id="rId16"/>
    <p:sldId id="272" r:id="rId17"/>
    <p:sldId id="283" r:id="rId18"/>
    <p:sldId id="279" r:id="rId19"/>
    <p:sldId id="280" r:id="rId20"/>
    <p:sldId id="282" r:id="rId21"/>
    <p:sldId id="284" r:id="rId22"/>
    <p:sldId id="28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0" autoAdjust="0"/>
    <p:restoredTop sz="94660"/>
  </p:normalViewPr>
  <p:slideViewPr>
    <p:cSldViewPr snapToGrid="0">
      <p:cViewPr varScale="1">
        <p:scale>
          <a:sx n="86" d="100"/>
          <a:sy n="86" d="100"/>
        </p:scale>
        <p:origin x="9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716D6-DB1C-4C03-B9DA-3B340F9E1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F50FE8-E4E7-4A8C-AB76-2E33F7FBC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89ED7-9261-4BAD-A620-7390F6F13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0EE1-2D82-4DD0-AD09-02474AF77BB8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CE14F-F6F3-44DC-B709-129236516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1202F-D512-43F0-99B2-72196BE8E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F562-A369-479D-AB94-AF3D4490D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699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688A1-1F3F-44D7-9BE8-66F92E21D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76FFA-3C41-4F85-9E8D-A11C0AB18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05906-DEAE-429A-84DC-AED123280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0EE1-2D82-4DD0-AD09-02474AF77BB8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50E7E-B3C5-4C10-9A9E-4C1F91C53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AA8F0-E2FE-4F68-BF87-0E38C12C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F562-A369-479D-AB94-AF3D4490D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22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BB91B-93CA-4FF9-8184-FA6951DA6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BDC9B-0A06-4990-BD5F-0F0656B7A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4686E-8C1B-4651-A1C0-80C1840C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0EE1-2D82-4DD0-AD09-02474AF77BB8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F6D2B-B96E-453F-A29B-E478C9966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DC646-A1AD-44FF-943F-F174B9C33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F562-A369-479D-AB94-AF3D4490D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585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34B77-8571-44F0-82A2-08B43DED9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BAEB8-0F0D-469F-9D20-F6DEE887E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E6C64-E37A-4D47-A402-19D5DE9D4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1D52D-88BB-4F89-A4F9-93163ACD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0EE1-2D82-4DD0-AD09-02474AF77BB8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79BEE-D8FD-4CC0-9165-E117CD5C3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B11BC0-5236-43D5-8E3C-9BDBFF3E5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F562-A369-479D-AB94-AF3D4490D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23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D06D5-5892-48B6-B6B2-431D4EAC9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362ED-58B7-4C1C-994E-7E4332D34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04337-A570-40FF-99DB-D5A53E42F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D13575-D2D4-422B-A401-D605295BC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8C8BEE-5A1A-42D3-9722-D095EC37D9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C36A99-F7E4-48CD-990E-7A1BF9CE5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0EE1-2D82-4DD0-AD09-02474AF77BB8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B9FF1A-8CDB-4E35-821B-393C43D7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16B89A-0E93-4F02-B50D-B69DCF02B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F562-A369-479D-AB94-AF3D4490D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100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922ED-F28F-4C7C-B70D-5169F2C3A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F42FE1-F34B-4879-B051-6E0044EA4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0EE1-2D82-4DD0-AD09-02474AF77BB8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B5D424-30B5-4767-8886-E563E77FE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F35132-4FBF-4DEF-9055-B2500C243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F562-A369-479D-AB94-AF3D4490D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27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C04C33-C78B-4A1F-96D6-BDDDCDEE9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0EE1-2D82-4DD0-AD09-02474AF77BB8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B8C84B-EB54-4E5A-8283-59E130D38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9D7E4-4A4D-4366-83D4-66AB4A75E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F562-A369-479D-AB94-AF3D4490D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03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A56D8-9C6B-4CEE-A246-0CAABEF5F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B68D5-7AF0-4908-84DF-1CEBE3BDA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873BFD-3B3C-4196-8E87-54BB73AF1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E4C45-19E1-4F05-8CA3-23D908D10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0EE1-2D82-4DD0-AD09-02474AF77BB8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C2BBB-2D26-44A8-92B2-5295263F4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BD0A5-0725-477E-95BB-F9B3A9E7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F562-A369-479D-AB94-AF3D4490D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358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ADF98-844E-456B-8971-71170E5BE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66EE04-BFC0-43A1-B86A-0FCA9769CA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F30C6-DFCC-4D77-8F8F-D46D19BE2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4287D-5172-4BF1-BD90-75B722F4B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0EE1-2D82-4DD0-AD09-02474AF77BB8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A03F0-60BC-49A1-9530-FE3D3B39C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3685A-088F-4DC2-9C72-6F35437C7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F562-A369-479D-AB94-AF3D4490D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74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507EE-0F75-44DC-BCDC-13A4251D6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DBBE6-55EB-4561-955B-988A76065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BBCA6-A06D-4E30-9069-BB70F4EC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0EE1-2D82-4DD0-AD09-02474AF77BB8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34130-03A1-4974-A7E1-785BB57FC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721C2-E03E-4088-8DAD-63B2B4F77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F562-A369-479D-AB94-AF3D4490D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336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CB0ED2-ACEE-448F-867E-401A507B5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2FF93-1A76-407C-BFE0-299A35FD6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247D4-02C6-434B-852F-DB5C70137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0EE1-2D82-4DD0-AD09-02474AF77BB8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9F831-8439-455D-887D-47BB42F96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329DF-EA93-4A60-914F-293C982FA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DF562-A369-479D-AB94-AF3D4490D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0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5D27F-8E2A-4EEE-A746-707D596B7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780E3-0C79-4653-95E0-BE12D5C96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3F6C2-9E83-4038-B7D1-357CBA9D8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70EE1-2D82-4DD0-AD09-02474AF77BB8}" type="datetimeFigureOut">
              <a:rPr lang="en-US" smtClean="0"/>
              <a:t>9/27/2024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92E7E-9F1D-410E-9893-5F5FBC6A2B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74237-693F-48E1-BAA3-E9A710392D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DF562-A369-479D-AB94-AF3D4490D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219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08866-1A63-401E-A7FB-76A1029DF2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Regular Expressions</a:t>
            </a:r>
            <a:br>
              <a:rPr lang="en-US" dirty="0"/>
            </a:br>
            <a:r>
              <a:rPr lang="en-US" dirty="0"/>
              <a:t>(Regexes)</a:t>
            </a:r>
          </a:p>
        </p:txBody>
      </p:sp>
    </p:spTree>
    <p:extLst>
      <p:ext uri="{BB962C8B-B14F-4D97-AF65-F5344CB8AC3E}">
        <p14:creationId xmlns:p14="http://schemas.microsoft.com/office/powerpoint/2010/main" val="2778448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F72F-3264-45DC-A92C-80FC7CFD0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DB6B-439B-4153-AC4C-90CB974EC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are regular expressions (regexes)</a:t>
            </a:r>
          </a:p>
          <a:p>
            <a:r>
              <a:rPr lang="en-US" dirty="0"/>
              <a:t>Regex Grammar</a:t>
            </a:r>
          </a:p>
          <a:p>
            <a:pPr lvl="1"/>
            <a:r>
              <a:rPr lang="en-US" dirty="0"/>
              <a:t>character classes [..]</a:t>
            </a:r>
          </a:p>
          <a:p>
            <a:pPr lvl="1"/>
            <a:r>
              <a:rPr lang="en-US" dirty="0"/>
              <a:t>metacharacters \ $ ^ . ?</a:t>
            </a:r>
          </a:p>
          <a:p>
            <a:pPr lvl="1"/>
            <a:r>
              <a:rPr lang="en-US" dirty="0"/>
              <a:t>quantifiers: * + ?</a:t>
            </a:r>
          </a:p>
          <a:p>
            <a:r>
              <a:rPr lang="en-US" dirty="0"/>
              <a:t>Python and Regexes</a:t>
            </a:r>
          </a:p>
          <a:p>
            <a:pPr lvl="1"/>
            <a:r>
              <a:rPr lang="en-US" dirty="0" err="1"/>
              <a:t>re.search</a:t>
            </a:r>
            <a:endParaRPr lang="en-US" dirty="0"/>
          </a:p>
          <a:p>
            <a:pPr lvl="1"/>
            <a:r>
              <a:rPr lang="en-US" dirty="0" err="1"/>
              <a:t>re.findall</a:t>
            </a:r>
            <a:endParaRPr lang="en-US" dirty="0"/>
          </a:p>
          <a:p>
            <a:pPr lvl="1"/>
            <a:r>
              <a:rPr lang="en-US" dirty="0"/>
              <a:t>re.sub</a:t>
            </a:r>
          </a:p>
          <a:p>
            <a:r>
              <a:rPr lang="en-US" dirty="0"/>
              <a:t>Regex Fun</a:t>
            </a:r>
          </a:p>
        </p:txBody>
      </p:sp>
    </p:spTree>
    <p:extLst>
      <p:ext uri="{BB962C8B-B14F-4D97-AF65-F5344CB8AC3E}">
        <p14:creationId xmlns:p14="http://schemas.microsoft.com/office/powerpoint/2010/main" val="649918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F4C63-E498-41DF-9566-27AF04496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Expressions (Regexes)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BC3AB-5202-4E97-A9C1-1D0013F31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6033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technology for parsing text and finding complex patterns using a simple 'regular' language</a:t>
            </a:r>
          </a:p>
          <a:p>
            <a:r>
              <a:rPr lang="en-US" dirty="0"/>
              <a:t>In the 1950's, the linguist Noam Chomsky came up with a </a:t>
            </a:r>
            <a:r>
              <a:rPr lang="en-US" dirty="0" err="1"/>
              <a:t>a</a:t>
            </a:r>
            <a:r>
              <a:rPr lang="en-US" dirty="0"/>
              <a:t> categorization for languages of increasing complexity based on their grammar rules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8F6E2D-3259-494B-8024-3934B1B0F0DC}"/>
              </a:ext>
            </a:extLst>
          </p:cNvPr>
          <p:cNvGrpSpPr/>
          <p:nvPr/>
        </p:nvGrpSpPr>
        <p:grpSpPr>
          <a:xfrm>
            <a:off x="1154376" y="3563935"/>
            <a:ext cx="6832882" cy="2691899"/>
            <a:chOff x="1154376" y="3563935"/>
            <a:chExt cx="6832882" cy="2691899"/>
          </a:xfrm>
        </p:grpSpPr>
        <p:pic>
          <p:nvPicPr>
            <p:cNvPr id="5" name="Snagit_SNG84D">
              <a:extLst>
                <a:ext uri="{FF2B5EF4-FFF2-40B4-BE49-F238E27FC236}">
                  <a16:creationId xmlns:a16="http://schemas.microsoft.com/office/drawing/2014/main" id="{CAA6CA5B-9F58-4164-ADCB-9DA572372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6742" y="3563935"/>
              <a:ext cx="3950516" cy="2691899"/>
            </a:xfrm>
            <a:prstGeom prst="rect">
              <a:avLst/>
            </a:prstGeom>
          </p:spPr>
        </p:pic>
        <p:pic>
          <p:nvPicPr>
            <p:cNvPr id="7" name="Snagit_SNG842">
              <a:extLst>
                <a:ext uri="{FF2B5EF4-FFF2-40B4-BE49-F238E27FC236}">
                  <a16:creationId xmlns:a16="http://schemas.microsoft.com/office/drawing/2014/main" id="{E20B5525-DEC3-4126-91C2-94E28D0B1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4376" y="3563935"/>
              <a:ext cx="1742857" cy="2314286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C1DA36-A36F-43BE-AC7A-88541426D75D}"/>
              </a:ext>
            </a:extLst>
          </p:cNvPr>
          <p:cNvGrpSpPr/>
          <p:nvPr/>
        </p:nvGrpSpPr>
        <p:grpSpPr>
          <a:xfrm>
            <a:off x="6434254" y="5797292"/>
            <a:ext cx="5378604" cy="369332"/>
            <a:chOff x="6434254" y="5797292"/>
            <a:chExt cx="5378604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05CE730-48B6-4521-9E9D-197EA41CB60E}"/>
                </a:ext>
              </a:extLst>
            </p:cNvPr>
            <p:cNvSpPr txBox="1"/>
            <p:nvPr/>
          </p:nvSpPr>
          <p:spPr>
            <a:xfrm>
              <a:off x="8341112" y="5797292"/>
              <a:ext cx="3471746" cy="3693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basis for regular expressions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2061C2A-ED79-4D95-87F0-22486F70AC89}"/>
                </a:ext>
              </a:extLst>
            </p:cNvPr>
            <p:cNvCxnSpPr/>
            <p:nvPr/>
          </p:nvCxnSpPr>
          <p:spPr>
            <a:xfrm>
              <a:off x="6434254" y="5878221"/>
              <a:ext cx="1817648" cy="1211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D9B44AD-4BD5-4D1F-ACB3-3EC6E8C50A68}"/>
              </a:ext>
            </a:extLst>
          </p:cNvPr>
          <p:cNvGrpSpPr/>
          <p:nvPr/>
        </p:nvGrpSpPr>
        <p:grpSpPr>
          <a:xfrm>
            <a:off x="6724185" y="5068747"/>
            <a:ext cx="5241073" cy="369332"/>
            <a:chOff x="6724185" y="5068747"/>
            <a:chExt cx="5241073" cy="3693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F14638A-D508-45BF-AC4D-689A963BA0A0}"/>
                </a:ext>
              </a:extLst>
            </p:cNvPr>
            <p:cNvSpPr txBox="1"/>
            <p:nvPr/>
          </p:nvSpPr>
          <p:spPr>
            <a:xfrm>
              <a:off x="8493512" y="5068747"/>
              <a:ext cx="3471746" cy="3693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basis for programming languages 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0206DC9-0577-4C55-A0DE-A1933B92728C}"/>
                </a:ext>
              </a:extLst>
            </p:cNvPr>
            <p:cNvCxnSpPr>
              <a:cxnSpLocks/>
            </p:cNvCxnSpPr>
            <p:nvPr/>
          </p:nvCxnSpPr>
          <p:spPr>
            <a:xfrm>
              <a:off x="6724185" y="5270811"/>
              <a:ext cx="168011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6922677-1DEF-48B9-8432-10227793E585}"/>
              </a:ext>
            </a:extLst>
          </p:cNvPr>
          <p:cNvGrpSpPr/>
          <p:nvPr/>
        </p:nvGrpSpPr>
        <p:grpSpPr>
          <a:xfrm>
            <a:off x="6969512" y="4321614"/>
            <a:ext cx="4995746" cy="460827"/>
            <a:chOff x="6969512" y="4321614"/>
            <a:chExt cx="4995746" cy="46082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4D066B1-7747-4F3B-BA7D-C1D329047892}"/>
                </a:ext>
              </a:extLst>
            </p:cNvPr>
            <p:cNvSpPr txBox="1"/>
            <p:nvPr/>
          </p:nvSpPr>
          <p:spPr>
            <a:xfrm>
              <a:off x="8493512" y="4321614"/>
              <a:ext cx="3471746" cy="3693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basis for human languages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7A551F10-5FF9-4A18-8784-63B93F590F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9512" y="4523678"/>
              <a:ext cx="1434790" cy="2587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24793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FA8EB-C091-4759-8C17-ED5D4F48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Regexes go way beyond simple string matching</a:t>
            </a:r>
          </a:p>
        </p:txBody>
      </p:sp>
      <p:pic>
        <p:nvPicPr>
          <p:cNvPr id="5" name="Snagit_SNG86B">
            <a:extLst>
              <a:ext uri="{FF2B5EF4-FFF2-40B4-BE49-F238E27FC236}">
                <a16:creationId xmlns:a16="http://schemas.microsoft.com/office/drawing/2014/main" id="{39622576-479A-4EB6-9A1F-D6D1E12D5F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628571" cy="29047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91BDE0-C73F-4561-820D-28A5A6C847F9}"/>
              </a:ext>
            </a:extLst>
          </p:cNvPr>
          <p:cNvSpPr txBox="1"/>
          <p:nvPr/>
        </p:nvSpPr>
        <p:spPr>
          <a:xfrm>
            <a:off x="2865864" y="5252224"/>
            <a:ext cx="5575609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Regexes can do MORE!</a:t>
            </a:r>
          </a:p>
        </p:txBody>
      </p:sp>
    </p:spTree>
    <p:extLst>
      <p:ext uri="{BB962C8B-B14F-4D97-AF65-F5344CB8AC3E}">
        <p14:creationId xmlns:p14="http://schemas.microsoft.com/office/powerpoint/2010/main" val="3047546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i="1" dirty="0"/>
              <a:t>regex </a:t>
            </a:r>
            <a:r>
              <a:rPr lang="en-US" dirty="0"/>
              <a:t>defines a search pattern for strings. </a:t>
            </a:r>
          </a:p>
          <a:p>
            <a:r>
              <a:rPr lang="en-US" dirty="0"/>
              <a:t>The search pattern can be anything from a simple character, a fixed string or a complex expression containing special characters describing the pattern. </a:t>
            </a:r>
          </a:p>
          <a:p>
            <a:r>
              <a:rPr lang="en-US" dirty="0"/>
              <a:t>The pattern defined by the regex may match one or several times or not at all for a given string. </a:t>
            </a:r>
          </a:p>
          <a:p>
            <a:r>
              <a:rPr lang="en-US" dirty="0"/>
              <a:t>Regular expressions can be used to search, edit and manipulate text.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FF6B2-1A1E-448E-B667-79A23835A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6B451-8B47-4224-BD6F-CA67EBAB7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05702"/>
          </a:xfrm>
        </p:spPr>
        <p:txBody>
          <a:bodyPr/>
          <a:lstStyle/>
          <a:p>
            <a:r>
              <a:rPr lang="en-US" dirty="0"/>
              <a:t>Defined by characters inside square brackets</a:t>
            </a:r>
          </a:p>
        </p:txBody>
      </p:sp>
      <p:pic>
        <p:nvPicPr>
          <p:cNvPr id="5" name="Snagit_SNG833">
            <a:extLst>
              <a:ext uri="{FF2B5EF4-FFF2-40B4-BE49-F238E27FC236}">
                <a16:creationId xmlns:a16="http://schemas.microsoft.com/office/drawing/2014/main" id="{FBB4CE7D-1BBC-499E-9B15-D59AB64AB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858" y="2666264"/>
            <a:ext cx="7904762" cy="179047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2C56012-ACA6-44E5-B4AC-1AF638048EB8}"/>
              </a:ext>
            </a:extLst>
          </p:cNvPr>
          <p:cNvGrpSpPr/>
          <p:nvPr/>
        </p:nvGrpSpPr>
        <p:grpSpPr>
          <a:xfrm>
            <a:off x="6096000" y="5441795"/>
            <a:ext cx="4809893" cy="523220"/>
            <a:chOff x="6096000" y="5441795"/>
            <a:chExt cx="4809893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EF9D7D3-11A7-497D-9F8A-80D47EFEF879}"/>
                </a:ext>
              </a:extLst>
            </p:cNvPr>
            <p:cNvSpPr txBox="1"/>
            <p:nvPr/>
          </p:nvSpPr>
          <p:spPr>
            <a:xfrm>
              <a:off x="6779941" y="5441795"/>
              <a:ext cx="4125952" cy="52322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http://www.regexpal.com</a:t>
              </a:r>
            </a:p>
          </p:txBody>
        </p:sp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9EC791D9-751B-4B1F-90DE-3503A3137220}"/>
                </a:ext>
              </a:extLst>
            </p:cNvPr>
            <p:cNvSpPr/>
            <p:nvPr/>
          </p:nvSpPr>
          <p:spPr>
            <a:xfrm>
              <a:off x="6096000" y="5541269"/>
              <a:ext cx="594732" cy="40055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744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57AA3-973E-4236-B861-86C98E62E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Characters and the character class</a:t>
            </a:r>
          </a:p>
        </p:txBody>
      </p:sp>
      <p:pic>
        <p:nvPicPr>
          <p:cNvPr id="7" name="Snagit_SNG856">
            <a:extLst>
              <a:ext uri="{FF2B5EF4-FFF2-40B4-BE49-F238E27FC236}">
                <a16:creationId xmlns:a16="http://schemas.microsoft.com/office/drawing/2014/main" id="{851EE24A-2925-4FB0-8BBE-C52FD9B00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166" y="1288352"/>
            <a:ext cx="8400989" cy="430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56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E4FC1-E726-4B55-86EE-12F6381B4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680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Metacharacters</a:t>
            </a:r>
          </a:p>
        </p:txBody>
      </p:sp>
    </p:spTree>
    <p:extLst>
      <p:ext uri="{BB962C8B-B14F-4D97-AF65-F5344CB8AC3E}">
        <p14:creationId xmlns:p14="http://schemas.microsoft.com/office/powerpoint/2010/main" val="1168712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91477-A75D-46EB-B62D-983057AD5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Metacharacters – characters with special meaning</a:t>
            </a:r>
          </a:p>
        </p:txBody>
      </p:sp>
      <p:pic>
        <p:nvPicPr>
          <p:cNvPr id="7" name="Snagit_SNG84B">
            <a:extLst>
              <a:ext uri="{FF2B5EF4-FFF2-40B4-BE49-F238E27FC236}">
                <a16:creationId xmlns:a16="http://schemas.microsoft.com/office/drawing/2014/main" id="{EF8D3BD1-A4C9-4BBA-9214-87FA7112D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601" y="1483423"/>
            <a:ext cx="8267663" cy="517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584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ED7C-659A-4BF4-822A-B4134051A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Sequences with \</a:t>
            </a:r>
          </a:p>
        </p:txBody>
      </p:sp>
      <p:pic>
        <p:nvPicPr>
          <p:cNvPr id="5" name="Snagit_SNG863">
            <a:extLst>
              <a:ext uri="{FF2B5EF4-FFF2-40B4-BE49-F238E27FC236}">
                <a16:creationId xmlns:a16="http://schemas.microsoft.com/office/drawing/2014/main" id="{FECD4F75-04CE-42D0-B622-DC02CAD0F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651" y="1814728"/>
            <a:ext cx="9885594" cy="611480"/>
          </a:xfrm>
          <a:prstGeom prst="rect">
            <a:avLst/>
          </a:prstGeom>
        </p:spPr>
      </p:pic>
      <p:pic>
        <p:nvPicPr>
          <p:cNvPr id="7" name="Snagit_SNG842">
            <a:extLst>
              <a:ext uri="{FF2B5EF4-FFF2-40B4-BE49-F238E27FC236}">
                <a16:creationId xmlns:a16="http://schemas.microsoft.com/office/drawing/2014/main" id="{4E5D915E-0199-4A5E-9ECD-6EC0FCF79F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08" y="2612554"/>
            <a:ext cx="10350431" cy="816446"/>
          </a:xfrm>
          <a:prstGeom prst="rect">
            <a:avLst/>
          </a:prstGeom>
        </p:spPr>
      </p:pic>
      <p:pic>
        <p:nvPicPr>
          <p:cNvPr id="9" name="Snagit_SNG861">
            <a:extLst>
              <a:ext uri="{FF2B5EF4-FFF2-40B4-BE49-F238E27FC236}">
                <a16:creationId xmlns:a16="http://schemas.microsoft.com/office/drawing/2014/main" id="{2D08E32D-4E53-4DC0-AAC6-EC5C34C14F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08" y="3729862"/>
            <a:ext cx="8378357" cy="554450"/>
          </a:xfrm>
          <a:prstGeom prst="rect">
            <a:avLst/>
          </a:prstGeom>
        </p:spPr>
      </p:pic>
      <p:pic>
        <p:nvPicPr>
          <p:cNvPr id="11" name="Snagit_SNG863">
            <a:extLst>
              <a:ext uri="{FF2B5EF4-FFF2-40B4-BE49-F238E27FC236}">
                <a16:creationId xmlns:a16="http://schemas.microsoft.com/office/drawing/2014/main" id="{EECCF556-DD4A-47DE-8526-44D6732090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08" y="4525603"/>
            <a:ext cx="5800000" cy="409524"/>
          </a:xfrm>
          <a:prstGeom prst="rect">
            <a:avLst/>
          </a:prstGeom>
        </p:spPr>
      </p:pic>
      <p:pic>
        <p:nvPicPr>
          <p:cNvPr id="13" name="Snagit_SNG85C">
            <a:extLst>
              <a:ext uri="{FF2B5EF4-FFF2-40B4-BE49-F238E27FC236}">
                <a16:creationId xmlns:a16="http://schemas.microsoft.com/office/drawing/2014/main" id="{95EC0B77-942C-4CED-A17E-EFC5AE181A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08" y="5347778"/>
            <a:ext cx="9216864" cy="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275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E1389-0624-42C2-8C61-6D1591014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70053"/>
            <a:ext cx="10515600" cy="1325563"/>
          </a:xfrm>
        </p:spPr>
        <p:txBody>
          <a:bodyPr/>
          <a:lstStyle/>
          <a:p>
            <a:r>
              <a:rPr lang="en-US" dirty="0"/>
              <a:t>more examples..</a:t>
            </a:r>
          </a:p>
        </p:txBody>
      </p:sp>
      <p:pic>
        <p:nvPicPr>
          <p:cNvPr id="4" name="Snagit_SNG849">
            <a:extLst>
              <a:ext uri="{FF2B5EF4-FFF2-40B4-BE49-F238E27FC236}">
                <a16:creationId xmlns:a16="http://schemas.microsoft.com/office/drawing/2014/main" id="{5E6A1FF6-2CCE-49AA-8C14-E42049617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155" y="1198399"/>
            <a:ext cx="6772589" cy="515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244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9978-470D-467B-96D6-4533FFF29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Quantifiers</a:t>
            </a:r>
          </a:p>
        </p:txBody>
      </p:sp>
      <p:pic>
        <p:nvPicPr>
          <p:cNvPr id="5" name="Snagit_SNG84C">
            <a:extLst>
              <a:ext uri="{FF2B5EF4-FFF2-40B4-BE49-F238E27FC236}">
                <a16:creationId xmlns:a16="http://schemas.microsoft.com/office/drawing/2014/main" id="{D52892F8-B79C-4BC9-B2FE-8D8A87B3C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701" y="1690688"/>
            <a:ext cx="8014411" cy="479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9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13438-4598-45B9-8975-6A993637D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376805"/>
            <a:ext cx="105156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dirty="0"/>
              <a:t>Python and Regexes</a:t>
            </a:r>
          </a:p>
        </p:txBody>
      </p:sp>
    </p:spTree>
    <p:extLst>
      <p:ext uri="{BB962C8B-B14F-4D97-AF65-F5344CB8AC3E}">
        <p14:creationId xmlns:p14="http://schemas.microsoft.com/office/powerpoint/2010/main" val="2898061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984F2-FA78-4F53-A0F2-AA6B888AC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Regex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223E9-D5D5-48E9-B870-7CC36B57E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57416" cy="2965831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re   # import the regex library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txt = "Rollo scored 99 on his midterm exam"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regex = r"\d+"        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match = re.search(regex, txt)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match: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print ("Found a match")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B2DB44-110E-4745-9260-30442CA98072}"/>
              </a:ext>
            </a:extLst>
          </p:cNvPr>
          <p:cNvGrpSpPr/>
          <p:nvPr/>
        </p:nvGrpSpPr>
        <p:grpSpPr>
          <a:xfrm>
            <a:off x="3352800" y="3048000"/>
            <a:ext cx="8229600" cy="2308324"/>
            <a:chOff x="3352800" y="3048000"/>
            <a:chExt cx="8229600" cy="230832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7389414-289A-4FBF-9097-682B2CB50CA9}"/>
                </a:ext>
              </a:extLst>
            </p:cNvPr>
            <p:cNvSpPr txBox="1"/>
            <p:nvPr/>
          </p:nvSpPr>
          <p:spPr>
            <a:xfrm>
              <a:off x="8229600" y="3048000"/>
              <a:ext cx="3352800" cy="230832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Python uses  "\"  to escape characters in a Python strings (e.g. \n  \t)</a:t>
              </a:r>
            </a:p>
            <a:p>
              <a:endParaRPr lang="en-US" dirty="0"/>
            </a:p>
            <a:p>
              <a:r>
                <a:rPr lang="en-US" dirty="0"/>
                <a:t>Use the 'r' prefix to specify a raw string (not a Python string) so that '\' does not get interpreted as a Python escape character.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572E5B9-9648-4E8B-BD74-E76C9B08993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308540"/>
              <a:ext cx="47183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035C2D1-7480-4858-A56E-1D67163FD501}"/>
              </a:ext>
            </a:extLst>
          </p:cNvPr>
          <p:cNvSpPr txBox="1"/>
          <p:nvPr/>
        </p:nvSpPr>
        <p:spPr>
          <a:xfrm>
            <a:off x="1048512" y="5730240"/>
            <a:ext cx="6205728" cy="8309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see: w3 schools tutorial; https://www.w3schools.com/python/</a:t>
            </a:r>
          </a:p>
        </p:txBody>
      </p:sp>
    </p:spTree>
    <p:extLst>
      <p:ext uri="{BB962C8B-B14F-4D97-AF65-F5344CB8AC3E}">
        <p14:creationId xmlns:p14="http://schemas.microsoft.com/office/powerpoint/2010/main" val="135565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6AFAD-2DE0-4843-A9A3-ECF66A288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Regex Functions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30A133-3C69-4EA0-8710-50CBD06C2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re.search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re.findall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re.sub</a:t>
            </a:r>
          </a:p>
          <a:p>
            <a:endParaRPr lang="en-US" dirty="0"/>
          </a:p>
        </p:txBody>
      </p:sp>
      <p:pic>
        <p:nvPicPr>
          <p:cNvPr id="6" name="Snagit_SNG855">
            <a:extLst>
              <a:ext uri="{FF2B5EF4-FFF2-40B4-BE49-F238E27FC236}">
                <a16:creationId xmlns:a16="http://schemas.microsoft.com/office/drawing/2014/main" id="{25AEBCB1-CED0-43AB-86CB-A914EA7C5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857" y="517727"/>
            <a:ext cx="5865593" cy="1877917"/>
          </a:xfrm>
          <a:prstGeom prst="rect">
            <a:avLst/>
          </a:prstGeom>
        </p:spPr>
      </p:pic>
      <p:pic>
        <p:nvPicPr>
          <p:cNvPr id="8" name="Snagit_SNG83C">
            <a:extLst>
              <a:ext uri="{FF2B5EF4-FFF2-40B4-BE49-F238E27FC236}">
                <a16:creationId xmlns:a16="http://schemas.microsoft.com/office/drawing/2014/main" id="{60DE8EEE-BA6B-40B8-B40C-8239D0B52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857" y="2676618"/>
            <a:ext cx="5859576" cy="1877917"/>
          </a:xfrm>
          <a:prstGeom prst="rect">
            <a:avLst/>
          </a:prstGeom>
        </p:spPr>
      </p:pic>
      <p:pic>
        <p:nvPicPr>
          <p:cNvPr id="10" name="Snagit_SNG853">
            <a:extLst>
              <a:ext uri="{FF2B5EF4-FFF2-40B4-BE49-F238E27FC236}">
                <a16:creationId xmlns:a16="http://schemas.microsoft.com/office/drawing/2014/main" id="{0A5D4806-48F8-4C1E-B6BC-1814047BA9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857" y="4835509"/>
            <a:ext cx="6702922" cy="176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03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75B2A-948B-419B-8EDF-76F62E46B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B28FD-7FF6-45E1-B9D6-47D93BD48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68" y="1825625"/>
            <a:ext cx="11411712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We often want to extract pieces of a larger phrase</a:t>
            </a: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txt = "News reports said that Rollo sold watermelons to Ralph"</a:t>
            </a:r>
          </a:p>
          <a:p>
            <a:r>
              <a:rPr lang="en-US" dirty="0"/>
              <a:t>We want to find out who sold what to whom.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regex = r"\w+ sold \w+ to \w+"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Put parens (..) around parts of the regex we want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regex = r"(\w+) sold (\w+) to (\w+)"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match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(regex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, txt)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 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match.group(1), match.group(2),match.group(3)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535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9D70A-4BF4-4384-8D73-809624AB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Grouping and Back References (\1 \2 \3 ...)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FDBC3-66B0-46E6-B48B-FA4D364AD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234" y="1556873"/>
            <a:ext cx="11216268" cy="4351338"/>
          </a:xfrm>
        </p:spPr>
        <p:txBody>
          <a:bodyPr/>
          <a:lstStyle/>
          <a:p>
            <a:r>
              <a:rPr lang="en-US" sz="2400" dirty="0"/>
              <a:t>Often when you identify a group, you may want to see if that group value is repeated in the text</a:t>
            </a:r>
          </a:p>
          <a:p>
            <a:r>
              <a:rPr lang="en-US" sz="2400" dirty="0"/>
              <a:t>We can use \1 to match the first group, \2 to match second group ..</a:t>
            </a:r>
          </a:p>
          <a:p>
            <a:r>
              <a:rPr lang="en-US" sz="2400" dirty="0"/>
              <a:t>Example: we want to if the </a:t>
            </a:r>
            <a:r>
              <a:rPr lang="en-US" sz="2400" b="1" dirty="0"/>
              <a:t>same person </a:t>
            </a:r>
            <a:r>
              <a:rPr lang="en-US" sz="2400" dirty="0"/>
              <a:t>bought and then sold the </a:t>
            </a:r>
            <a:r>
              <a:rPr lang="en-US" sz="2400" b="1" dirty="0"/>
              <a:t>same stock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 = "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The news said Rollo bought NVDA and then Rollo sold NVDA the next day."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regex = r"(\w+) bought (\w+).* \1 sold \2"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match = re.search(regex, s)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 (match.group(1), match.group(2) 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 Rollo NVDA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52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13438-4598-45B9-8975-6A993637D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376805"/>
            <a:ext cx="105156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dirty="0"/>
              <a:t>Greedy vs. Lazy Matching</a:t>
            </a:r>
          </a:p>
        </p:txBody>
      </p:sp>
    </p:spTree>
    <p:extLst>
      <p:ext uri="{BB962C8B-B14F-4D97-AF65-F5344CB8AC3E}">
        <p14:creationId xmlns:p14="http://schemas.microsoft.com/office/powerpoint/2010/main" val="3564520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A23F9-ED24-4ACE-918C-5D9B6C85F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69497"/>
            <a:ext cx="10515600" cy="1325563"/>
          </a:xfrm>
        </p:spPr>
        <p:txBody>
          <a:bodyPr/>
          <a:lstStyle/>
          <a:p>
            <a:r>
              <a:rPr lang="en-US" dirty="0"/>
              <a:t>Greedy vs Lazy</a:t>
            </a:r>
          </a:p>
        </p:txBody>
      </p:sp>
      <p:pic>
        <p:nvPicPr>
          <p:cNvPr id="5" name="Snagit_SNG883">
            <a:extLst>
              <a:ext uri="{FF2B5EF4-FFF2-40B4-BE49-F238E27FC236}">
                <a16:creationId xmlns:a16="http://schemas.microsoft.com/office/drawing/2014/main" id="{9555DEFB-FC5A-4C16-8F2E-3A2EB435C7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328" y="1222805"/>
            <a:ext cx="6852451" cy="3289508"/>
          </a:xfrm>
          <a:prstGeom prst="rect">
            <a:avLst/>
          </a:prstGeom>
        </p:spPr>
      </p:pic>
      <p:pic>
        <p:nvPicPr>
          <p:cNvPr id="7" name="Snagit_SNG877">
            <a:extLst>
              <a:ext uri="{FF2B5EF4-FFF2-40B4-BE49-F238E27FC236}">
                <a16:creationId xmlns:a16="http://schemas.microsoft.com/office/drawing/2014/main" id="{CE67A933-237C-4BAF-BDD5-0E0E9EC2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350" y="4597100"/>
            <a:ext cx="6142857" cy="20761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6B2B9DC-E345-40A4-B822-85277EA885EA}"/>
              </a:ext>
            </a:extLst>
          </p:cNvPr>
          <p:cNvSpPr/>
          <p:nvPr/>
        </p:nvSpPr>
        <p:spPr>
          <a:xfrm>
            <a:off x="9156192" y="6315456"/>
            <a:ext cx="1011936" cy="377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488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B327-1F5B-425A-A39C-370C20FB8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7D666-F9CD-478B-9598-E0F17CACC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Regexes are based on Regular Languages (from Chomsky)</a:t>
            </a:r>
          </a:p>
          <a:p>
            <a:r>
              <a:rPr lang="en-US" dirty="0"/>
              <a:t>Used to identify complex strings in text</a:t>
            </a:r>
          </a:p>
          <a:p>
            <a:r>
              <a:rPr lang="en-US" dirty="0"/>
              <a:t>They are FAST!</a:t>
            </a:r>
          </a:p>
          <a:p>
            <a:r>
              <a:rPr lang="en-US" dirty="0"/>
              <a:t>Character classes, Metacharacters, Quantifiers</a:t>
            </a:r>
          </a:p>
          <a:p>
            <a:r>
              <a:rPr lang="en-US" dirty="0"/>
              <a:t>Greedy vs Lazy Matching</a:t>
            </a:r>
          </a:p>
          <a:p>
            <a:r>
              <a:rPr lang="en-US" dirty="0"/>
              <a:t>Python functions</a:t>
            </a:r>
          </a:p>
          <a:p>
            <a:pPr lvl="1"/>
            <a:r>
              <a:rPr lang="en-US" dirty="0" err="1"/>
              <a:t>re.search</a:t>
            </a:r>
            <a:endParaRPr lang="en-US" dirty="0"/>
          </a:p>
          <a:p>
            <a:pPr lvl="1"/>
            <a:r>
              <a:rPr lang="en-US" dirty="0" err="1"/>
              <a:t>re.findall</a:t>
            </a:r>
            <a:endParaRPr lang="en-US" dirty="0"/>
          </a:p>
          <a:p>
            <a:pPr lvl="1"/>
            <a:r>
              <a:rPr lang="en-US" dirty="0"/>
              <a:t>re.sub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922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13438-4598-45B9-8975-6A993637D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2376805"/>
            <a:ext cx="10515600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dirty="0"/>
              <a:t>Using </a:t>
            </a:r>
            <a:r>
              <a:rPr lang="en-US" dirty="0" err="1"/>
              <a:t>findall</a:t>
            </a:r>
            <a:r>
              <a:rPr lang="en-US" dirty="0"/>
              <a:t> and groups</a:t>
            </a:r>
          </a:p>
        </p:txBody>
      </p:sp>
    </p:spTree>
    <p:extLst>
      <p:ext uri="{BB962C8B-B14F-4D97-AF65-F5344CB8AC3E}">
        <p14:creationId xmlns:p14="http://schemas.microsoft.com/office/powerpoint/2010/main" val="3904162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C6A94-DB7C-9B76-F91D-4A9FFBAE8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re.findall</a:t>
            </a:r>
            <a:r>
              <a:rPr lang="en-US" dirty="0"/>
              <a:t> and Groups</a:t>
            </a:r>
          </a:p>
        </p:txBody>
      </p:sp>
      <p:pic>
        <p:nvPicPr>
          <p:cNvPr id="7" name="Snagit_SNG86B">
            <a:extLst>
              <a:ext uri="{FF2B5EF4-FFF2-40B4-BE49-F238E27FC236}">
                <a16:creationId xmlns:a16="http://schemas.microsoft.com/office/drawing/2014/main" id="{97A1E14E-85F5-60F9-8022-A1DFB23CD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129" y="1576836"/>
            <a:ext cx="7231492" cy="1852164"/>
          </a:xfrm>
          <a:prstGeom prst="rect">
            <a:avLst/>
          </a:prstGeom>
        </p:spPr>
      </p:pic>
      <p:pic>
        <p:nvPicPr>
          <p:cNvPr id="9" name="Snagit_SNG844">
            <a:extLst>
              <a:ext uri="{FF2B5EF4-FFF2-40B4-BE49-F238E27FC236}">
                <a16:creationId xmlns:a16="http://schemas.microsoft.com/office/drawing/2014/main" id="{04BEBDA5-78EF-9381-33BC-9BCC83A6F3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465" y="3709416"/>
            <a:ext cx="5818329" cy="237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88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3479</TotalTime>
  <Words>635</Words>
  <Application>Microsoft Office PowerPoint</Application>
  <PresentationFormat>Widescreen</PresentationFormat>
  <Paragraphs>90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Courier New</vt:lpstr>
      <vt:lpstr>Office Theme</vt:lpstr>
      <vt:lpstr>Regular Expressions (Regexes)</vt:lpstr>
      <vt:lpstr>Overview</vt:lpstr>
      <vt:lpstr>Regular Expressions (Regexes)</vt:lpstr>
      <vt:lpstr>Regexes go way beyond simple string matching</vt:lpstr>
      <vt:lpstr>Regex</vt:lpstr>
      <vt:lpstr>Character Classes</vt:lpstr>
      <vt:lpstr>Characters and the character class</vt:lpstr>
      <vt:lpstr>Metacharacters</vt:lpstr>
      <vt:lpstr>Metacharacters – characters with special meaning</vt:lpstr>
      <vt:lpstr>Special Sequences with \</vt:lpstr>
      <vt:lpstr>more examples..</vt:lpstr>
      <vt:lpstr>Quantifiers</vt:lpstr>
      <vt:lpstr>Python and Regexes</vt:lpstr>
      <vt:lpstr>Python Regex</vt:lpstr>
      <vt:lpstr>Regex Functions</vt:lpstr>
      <vt:lpstr>Grouping</vt:lpstr>
      <vt:lpstr>Grouping and Back References (\1 \2 \3 ...)</vt:lpstr>
      <vt:lpstr>Greedy vs. Lazy Matching</vt:lpstr>
      <vt:lpstr>Greedy vs Lazy</vt:lpstr>
      <vt:lpstr>Summary </vt:lpstr>
      <vt:lpstr>Using findall and groups</vt:lpstr>
      <vt:lpstr>re.findall and Groups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Regular Expressions</dc:title>
  <dc:creator>Frank Coyle</dc:creator>
  <cp:lastModifiedBy>Coyle, Frank</cp:lastModifiedBy>
  <cp:revision>14</cp:revision>
  <dcterms:created xsi:type="dcterms:W3CDTF">2021-10-16T16:42:33Z</dcterms:created>
  <dcterms:modified xsi:type="dcterms:W3CDTF">2024-09-27T13:36:14Z</dcterms:modified>
</cp:coreProperties>
</file>